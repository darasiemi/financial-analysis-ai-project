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05B9B"/>
            </a:solidFill>
          </c:spPr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609.3</c:v>
                </c:pt>
                <c:pt idx="1">
                  <c:v>1266.2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164592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10515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GTCO Profit Before Tax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9875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CE6F2"/>
                </a:solidFill>
              </a:defRPr>
            </a:pPr>
            <a:r>
              <a:t>Comparison of 2023 and 2024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340"/>
                </a:solidFill>
              </a:defRPr>
            </a:pPr>
            <a:r>
              <a:t>Key Financial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020824"/>
            <a:ext cx="4846320" cy="2148840"/>
          </a:xfrm>
          <a:prstGeom prst="roundRect">
            <a:avLst/>
          </a:prstGeom>
          <a:solidFill>
            <a:srgbClr val="E6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965960"/>
            <a:ext cx="48463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965960"/>
            <a:ext cx="73152" cy="2148840"/>
          </a:xfrm>
          <a:prstGeom prst="rect">
            <a:avLst/>
          </a:prstGeom>
          <a:solidFill>
            <a:srgbClr val="205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221991"/>
            <a:ext cx="4343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2023 PBT (GROUP)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5B9B"/>
                </a:solidFill>
              </a:defRPr>
            </a:pPr>
            <a:r>
              <a:t>₦609.3bn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83280"/>
            <a:ext cx="4343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In thousands of Nigerian Naira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199" y="2020824"/>
            <a:ext cx="4846320" cy="2148840"/>
          </a:xfrm>
          <a:prstGeom prst="roundRect">
            <a:avLst/>
          </a:prstGeom>
          <a:solidFill>
            <a:srgbClr val="E6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79" y="1965960"/>
            <a:ext cx="48463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79" y="1965960"/>
            <a:ext cx="73152" cy="2148840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799" y="2221991"/>
            <a:ext cx="4343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2024 PBT (GROUP)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9" y="2697480"/>
            <a:ext cx="4343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E6B14D"/>
                </a:solidFill>
              </a:defRPr>
            </a:pPr>
            <a:r>
              <a:t>₦1,266.2bn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799" y="3383280"/>
            <a:ext cx="4343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In thousands of Nigerian Naira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6574536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Source: GTCO 2024 Annual Report, p. 129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Profit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744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800" b="1">
                <a:solidFill>
                  <a:srgbClr val="E6B14D"/>
                </a:solidFill>
              </a:defRPr>
            </a:pPr>
            <a:r>
              <a:t>107.82%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5204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>
                <a:solidFill>
                  <a:srgbClr val="FFFFFF"/>
                </a:solidFill>
              </a:defRPr>
            </a:pPr>
            <a:r>
              <a:t>Increase in Group Profit Before Tax from 2023 to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74536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CDD7E1"/>
                </a:solidFill>
              </a:defRPr>
            </a:pPr>
            <a:r>
              <a:t>Source: Calculated from annual-report values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340"/>
                </a:solidFill>
              </a:defRPr>
            </a:pPr>
            <a:r>
              <a:t>Profit Before Tax Comparison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37943"/>
            <a:ext cx="4892040" cy="2148840"/>
          </a:xfrm>
          <a:prstGeom prst="roundRect">
            <a:avLst/>
          </a:prstGeom>
          <a:solidFill>
            <a:srgbClr val="E6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48920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783080"/>
            <a:ext cx="73152" cy="2148840"/>
          </a:xfrm>
          <a:prstGeom prst="rect">
            <a:avLst/>
          </a:prstGeom>
          <a:solidFill>
            <a:srgbClr val="205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39112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2023 PBT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514600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5B9B"/>
                </a:solidFill>
              </a:defRPr>
            </a:pPr>
            <a:r>
              <a:t>₦609.3bn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37943"/>
            <a:ext cx="4892040" cy="2148840"/>
          </a:xfrm>
          <a:prstGeom prst="roundRect">
            <a:avLst/>
          </a:prstGeom>
          <a:solidFill>
            <a:srgbClr val="E6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8920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73152" cy="2148840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039112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2024 PBT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14600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E6B14D"/>
                </a:solidFill>
              </a:defRPr>
            </a:pPr>
            <a:r>
              <a:t>₦1,266.2bn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69280" y="2468880"/>
            <a:ext cx="566928" cy="38404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332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0D2340"/>
                </a:solidFill>
              </a:defRPr>
            </a:pPr>
            <a:r>
              <a:t>GTCO's Group Profit Before Tax more than doubled from 2023 to 2024.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6574536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Source: GTCO 2024 Annual Report, p. 129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340"/>
                </a:solidFill>
              </a:defRPr>
            </a:pPr>
            <a:r>
              <a:t>Group Profit Before Tax Trend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1417320"/>
          <a:ext cx="104241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74536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Source: Values shown in ₦bn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340"/>
                </a:solidFill>
              </a:defRPr>
            </a:pPr>
            <a: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E293B"/>
                </a:solidFill>
              </a:defRPr>
            </a:pPr>
            <a:r>
              <a:t>GTCO 2024 Annual Report, p. 129</a:t>
            </a:r>
          </a:p>
          <a:p>
            <a:pPr>
              <a:spcAft>
                <a:spcPts val="900"/>
              </a:spcAft>
              <a:defRPr sz="1400">
                <a:solidFill>
                  <a:srgbClr val="1E293B"/>
                </a:solidFill>
              </a:defRPr>
            </a:pPr>
            <a:r>
              <a:t>Calculated from annual-report values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6B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