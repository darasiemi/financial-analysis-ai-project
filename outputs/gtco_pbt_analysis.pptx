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05B9B"/>
            </a:solidFill>
          </c:spPr>
          <c:cat>
            <c:strRef>
              <c:f>Sheet1!$A$2:$A$3</c:f>
              <c:strCache>
                <c:ptCount val="2"/>
                <c:pt idx="0">
                  <c:v>2023</c:v>
                </c:pt>
                <c:pt idx="1">
                  <c:v>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609.31</c:v>
                </c:pt>
                <c:pt idx="1">
                  <c:v>1003.04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164592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GTCO Profit Before Tax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8755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6F2"/>
                </a:solidFill>
              </a:defRPr>
            </a:pPr>
            <a:r>
              <a:t>Comparison of 2023 and 2024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Key Financial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2020824"/>
            <a:ext cx="484632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965960"/>
            <a:ext cx="4846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" y="1965960"/>
            <a:ext cx="73152" cy="2148840"/>
          </a:xfrm>
          <a:prstGeom prst="rect">
            <a:avLst/>
          </a:prstGeom>
          <a:solidFill>
            <a:srgbClr val="20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221991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2023 PBT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5B9B"/>
                </a:solidFill>
              </a:defRPr>
            </a:pPr>
            <a:r>
              <a:t>₦609.31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38328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Group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199" y="2020824"/>
            <a:ext cx="484632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6479" y="1965960"/>
            <a:ext cx="48463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965960"/>
            <a:ext cx="73152" cy="2148840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221991"/>
            <a:ext cx="4343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2024 PBT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799" y="2697480"/>
            <a:ext cx="4343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6B14D"/>
                </a:solidFill>
              </a:defRPr>
            </a:pPr>
            <a:r>
              <a:t>₦1,003.04 billion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383280"/>
            <a:ext cx="4343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GTCO 2023 Annual Report, p. 8; GTCO 2024 Annual Report, p. 277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Profit Before Tax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37943"/>
            <a:ext cx="489204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4892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73152" cy="2148840"/>
          </a:xfrm>
          <a:prstGeom prst="rect">
            <a:avLst/>
          </a:prstGeom>
          <a:solidFill>
            <a:srgbClr val="205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3911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1460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05B9B"/>
                </a:solidFill>
              </a:defRPr>
            </a:pPr>
            <a:r>
              <a:t>₦609.31 billion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837943"/>
            <a:ext cx="4892040" cy="2148840"/>
          </a:xfrm>
          <a:prstGeom prst="roundRect">
            <a:avLst/>
          </a:prstGeom>
          <a:solidFill>
            <a:srgbClr val="E6E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48920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73152" cy="2148840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39112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48B"/>
                </a:solidFill>
              </a:defRPr>
            </a:pPr>
            <a: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E6B14D"/>
                </a:solidFill>
              </a:defRPr>
            </a:pPr>
            <a:r>
              <a:t>₦1,003.04 billion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69280" y="2468880"/>
            <a:ext cx="566928" cy="384048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17720"/>
            <a:ext cx="10332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2340"/>
                </a:solidFill>
              </a:defRPr>
            </a:pPr>
            <a:r>
              <a:t>GTCO's Profit Before Tax increased significantly from 2023 to 2024.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GTCO Annual Reports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Profit Before Tax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744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E6B14D"/>
                </a:solidFill>
              </a:defRPr>
            </a:pPr>
            <a:r>
              <a:t>64.62%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52044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FFFFFF"/>
                </a:solidFill>
              </a:defRPr>
            </a:pPr>
            <a:r>
              <a:t>Percentage increase in Profit Before Tax from 2023 to 2024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DD7E1"/>
                </a:solidFill>
              </a:defRPr>
            </a:pPr>
            <a:r>
              <a:t>Source: Calculated from GTCO annual report values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Profit Before Tax Trend (₦ Billion)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417320"/>
          <a:ext cx="104241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74536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Source: GTCO Annual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2340"/>
                </a:solidFill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GTCO 2023 Annual Report, p. 8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GTCO 2024 Annual Report, p. 277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Calculated from annual-report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6B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